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1509" r:id="rId7"/>
    <p:sldId id="1511" r:id="rId8"/>
    <p:sldId id="1515" r:id="rId9"/>
    <p:sldId id="1510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F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58"/>
  </p:normalViewPr>
  <p:slideViewPr>
    <p:cSldViewPr snapToGrid="0">
      <p:cViewPr>
        <p:scale>
          <a:sx n="75" d="100"/>
          <a:sy n="75" d="100"/>
        </p:scale>
        <p:origin x="93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9575321-1A50-97C8-5794-64ABAB00C59E}"/>
              </a:ext>
            </a:extLst>
          </p:cNvPr>
          <p:cNvSpPr/>
          <p:nvPr/>
        </p:nvSpPr>
        <p:spPr>
          <a:xfrm>
            <a:off x="5830529" y="0"/>
            <a:ext cx="6361471" cy="6858000"/>
          </a:xfrm>
          <a:prstGeom prst="rect">
            <a:avLst/>
          </a:prstGeom>
          <a:solidFill>
            <a:srgbClr val="3B3F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63" y="2239069"/>
            <a:ext cx="4654296" cy="981651"/>
          </a:xfrm>
        </p:spPr>
        <p:txBody>
          <a:bodyPr>
            <a:normAutofit/>
          </a:bodyPr>
          <a:lstStyle/>
          <a:p>
            <a:r>
              <a:rPr lang="es-MX" noProof="0" dirty="0"/>
              <a:t>INFLACIÓN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362" y="4972075"/>
            <a:ext cx="4206240" cy="1380744"/>
          </a:xfrm>
        </p:spPr>
        <p:txBody>
          <a:bodyPr/>
          <a:lstStyle/>
          <a:p>
            <a:r>
              <a:rPr lang="es-MX" noProof="0" dirty="0" err="1"/>
              <a:t>Presented</a:t>
            </a:r>
            <a:r>
              <a:rPr lang="es-MX" noProof="0" dirty="0"/>
              <a:t> </a:t>
            </a:r>
            <a:r>
              <a:rPr lang="es-MX" noProof="0" dirty="0" err="1"/>
              <a:t>by</a:t>
            </a:r>
            <a:r>
              <a:rPr lang="es-MX" noProof="0" dirty="0"/>
              <a:t> Alex BR​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266783-F5FC-8A34-BD34-C7FD01583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529" y="793418"/>
            <a:ext cx="6361471" cy="5271164"/>
          </a:xfrm>
          <a:prstGeom prst="rect">
            <a:avLst/>
          </a:prstGeom>
        </p:spPr>
      </p:pic>
      <p:sp>
        <p:nvSpPr>
          <p:cNvPr id="17" name="Title 3">
            <a:extLst>
              <a:ext uri="{FF2B5EF4-FFF2-40B4-BE49-F238E27FC236}">
                <a16:creationId xmlns:a16="http://schemas.microsoft.com/office/drawing/2014/main" id="{B8F976DF-61B3-B5C8-54F9-0BD029092F2B}"/>
              </a:ext>
            </a:extLst>
          </p:cNvPr>
          <p:cNvSpPr txBox="1">
            <a:spLocks/>
          </p:cNvSpPr>
          <p:nvPr/>
        </p:nvSpPr>
        <p:spPr>
          <a:xfrm>
            <a:off x="754724" y="3098800"/>
            <a:ext cx="4417502" cy="5775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Y EJEMPLOS DE PAISES CON ALTA INFLACIÓN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626" y="490101"/>
            <a:ext cx="6456747" cy="909159"/>
          </a:xfrm>
        </p:spPr>
        <p:txBody>
          <a:bodyPr/>
          <a:lstStyle/>
          <a:p>
            <a:pPr algn="ctr"/>
            <a:r>
              <a:rPr lang="es-MX" noProof="0" dirty="0"/>
              <a:t>¿Qué es la Inflación?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9293" y="1669846"/>
            <a:ext cx="11191094" cy="111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/>
              <a:t>Es el </a:t>
            </a:r>
            <a:r>
              <a:rPr lang="es-MX" b="1" noProof="0" dirty="0"/>
              <a:t>aumento</a:t>
            </a:r>
            <a:r>
              <a:rPr lang="es-MX" noProof="0" dirty="0"/>
              <a:t> sostenido y generalizado de los </a:t>
            </a:r>
            <a:r>
              <a:rPr lang="es-MX" u="sng" noProof="0" dirty="0"/>
              <a:t>precios</a:t>
            </a:r>
            <a:r>
              <a:rPr lang="es-MX" noProof="0" dirty="0"/>
              <a:t> de bienes y servicios a lo largo del tiempo.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9B2073-373A-C5D9-A94D-E331AC60F0C1}"/>
              </a:ext>
            </a:extLst>
          </p:cNvPr>
          <p:cNvSpPr txBox="1">
            <a:spLocks/>
          </p:cNvSpPr>
          <p:nvPr/>
        </p:nvSpPr>
        <p:spPr>
          <a:xfrm>
            <a:off x="1716202" y="5811557"/>
            <a:ext cx="8777275" cy="1112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s-MX" sz="1800" dirty="0"/>
              <a:t>Significa que tu dinero pierde poder adquisitivo (con $500 pesos hoy compras menos cosas que hace un año).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32E350-46EF-DBF5-5037-80F62A5F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044" y="2682105"/>
            <a:ext cx="5439590" cy="3038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76981"/>
            <a:ext cx="4572000" cy="603798"/>
          </a:xfrm>
        </p:spPr>
        <p:txBody>
          <a:bodyPr/>
          <a:lstStyle/>
          <a:p>
            <a:r>
              <a:rPr lang="es-MX" noProof="0" dirty="0"/>
              <a:t>Causas principales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5794" y="937260"/>
            <a:ext cx="5483226" cy="4983480"/>
          </a:xfrm>
        </p:spPr>
        <p:txBody>
          <a:bodyPr>
            <a:noAutofit/>
          </a:bodyPr>
          <a:lstStyle/>
          <a:p>
            <a:pPr lvl="0"/>
            <a:r>
              <a:rPr lang="es-MX" sz="1900" b="1" noProof="0" dirty="0"/>
              <a:t>Inflación por demanda:</a:t>
            </a:r>
            <a:r>
              <a:rPr lang="es-MX" sz="1900" noProof="0" dirty="0"/>
              <a:t> La gente tiene más dinero o ganas de comprar que la cantidad de productos disponibles (mucha demanda, poca oferta).</a:t>
            </a:r>
          </a:p>
          <a:p>
            <a:pPr lvl="0"/>
            <a:r>
              <a:rPr lang="es-MX" sz="1900" b="1" noProof="0" dirty="0"/>
              <a:t>Inflación por costos:</a:t>
            </a:r>
            <a:r>
              <a:rPr lang="es-MX" sz="1900" noProof="0" dirty="0"/>
              <a:t> Suben los costos de producción (energía, transporte, sueldos, materias primas) y las empresas trasmiten ese aumento al precio final.</a:t>
            </a:r>
          </a:p>
          <a:p>
            <a:pPr lvl="0"/>
            <a:r>
              <a:rPr lang="es-MX" sz="1900" b="1" noProof="0" dirty="0"/>
              <a:t>Inflación autoconstruida/expectativas:</a:t>
            </a:r>
            <a:r>
              <a:rPr lang="es-MX" sz="1900" noProof="0" dirty="0"/>
              <a:t> La gente o las empresas prevén que todo va a subir de precio el próximo año, así que suben sus precios desde antes.</a:t>
            </a:r>
          </a:p>
          <a:p>
            <a:pPr lvl="0"/>
            <a:r>
              <a:rPr lang="es-MX" sz="1900" b="1" noProof="0" dirty="0"/>
              <a:t>Emisión monetaria:</a:t>
            </a:r>
            <a:r>
              <a:rPr lang="es-MX" sz="1900" noProof="0" dirty="0"/>
              <a:t> El banco central imprime demasiado dinero sin un respaldo económico real.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676BFC-D3D7-94AA-0899-FEB0AB62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658" y="0"/>
            <a:ext cx="6017342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41" y="425379"/>
            <a:ext cx="4142232" cy="1525341"/>
          </a:xfrm>
        </p:spPr>
        <p:txBody>
          <a:bodyPr>
            <a:normAutofit fontScale="90000"/>
          </a:bodyPr>
          <a:lstStyle/>
          <a:p>
            <a:r>
              <a:rPr lang="es-MX" noProof="0" dirty="0"/>
              <a:t>Ejemplos de Países con Alta Inflación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7187" y="3254477"/>
            <a:ext cx="4810790" cy="3603523"/>
          </a:xfrm>
        </p:spPr>
        <p:txBody>
          <a:bodyPr>
            <a:normAutofit/>
          </a:bodyPr>
          <a:lstStyle/>
          <a:p>
            <a:r>
              <a:rPr lang="es-MX" sz="1600" b="1" noProof="0" dirty="0"/>
              <a:t>Venezuela (Hiperinflación histórica):</a:t>
            </a:r>
            <a:endParaRPr lang="es-MX" sz="1600" noProof="0" dirty="0"/>
          </a:p>
          <a:p>
            <a:pPr lvl="0"/>
            <a:r>
              <a:rPr lang="es-MX" sz="1600" b="1" noProof="0" dirty="0"/>
              <a:t>Situación:</a:t>
            </a:r>
            <a:r>
              <a:rPr lang="es-MX" sz="1600" noProof="0" dirty="0"/>
              <a:t> Llegó a registrar tasas de inflación de cientos de miles por ciento en su peor momento.</a:t>
            </a:r>
          </a:p>
          <a:p>
            <a:pPr lvl="0"/>
            <a:r>
              <a:rPr lang="es-MX" sz="1600" b="1" noProof="0" dirty="0"/>
              <a:t>Causas:</a:t>
            </a:r>
            <a:r>
              <a:rPr lang="es-MX" sz="1600" noProof="0" dirty="0"/>
              <a:t> Caída de la producción petrolera, emisión masiva e ininterrumpida de dinero por parte del gobierno y sanciones financieras.</a:t>
            </a:r>
          </a:p>
          <a:p>
            <a:pPr lvl="0"/>
            <a:r>
              <a:rPr lang="es-MX" sz="1600" b="1" noProof="0" dirty="0"/>
              <a:t>Impacto diario:</a:t>
            </a:r>
            <a:r>
              <a:rPr lang="es-MX" sz="1600" noProof="0" dirty="0"/>
              <a:t> El dinero pierde valor en horas; la población recurrió a usar dólares, criptomonedas o trueque.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F07DC7-8811-9975-3CBD-DA203AD97CC4}"/>
              </a:ext>
            </a:extLst>
          </p:cNvPr>
          <p:cNvSpPr txBox="1">
            <a:spLocks/>
          </p:cNvSpPr>
          <p:nvPr/>
        </p:nvSpPr>
        <p:spPr>
          <a:xfrm>
            <a:off x="5675313" y="321933"/>
            <a:ext cx="6159500" cy="318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b="1" noProof="0" dirty="0"/>
              <a:t>Argentina:</a:t>
            </a:r>
            <a:endParaRPr lang="es-MX" sz="1600" noProof="0" dirty="0"/>
          </a:p>
          <a:p>
            <a:pPr lvl="0"/>
            <a:r>
              <a:rPr lang="es-MX" sz="1600" b="1" noProof="0" dirty="0"/>
              <a:t>Situación:</a:t>
            </a:r>
            <a:r>
              <a:rPr lang="es-MX" sz="1600" noProof="0" dirty="0"/>
              <a:t> En los últimos años ha mantenido inflaciones anuales superiores al 100%–200%.</a:t>
            </a:r>
          </a:p>
          <a:p>
            <a:pPr lvl="0"/>
            <a:r>
              <a:rPr lang="es-MX" sz="1600" b="1" noProof="0" dirty="0"/>
              <a:t>Causas:</a:t>
            </a:r>
            <a:r>
              <a:rPr lang="es-MX" sz="1600" noProof="0" dirty="0"/>
              <a:t> Déficit fiscal crónico (el gobierno gasta más de lo que ingresa y emite billetes para cubrirlo) y falta de confianza en la moneda local (el peso argentino).</a:t>
            </a:r>
          </a:p>
          <a:p>
            <a:pPr lvl="0"/>
            <a:r>
              <a:rPr lang="es-MX" sz="1600" b="1" noProof="0" dirty="0"/>
              <a:t>Impacto diario:</a:t>
            </a:r>
            <a:r>
              <a:rPr lang="es-MX" sz="1600" noProof="0" dirty="0"/>
              <a:t> Los precios en tiendas cambian de semana a semana; los contratos y presupuestos a mediano plazo son extremadamente difíciles de fijar.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C2C91F-0D7D-FFE0-8CED-E012A9B45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86" y="2416364"/>
            <a:ext cx="1512017" cy="1012636"/>
          </a:xfrm>
          <a:prstGeom prst="rect">
            <a:avLst/>
          </a:prstGeom>
        </p:spPr>
      </p:pic>
      <p:pic>
        <p:nvPicPr>
          <p:cNvPr id="12" name="Picture 11" descr="pila de billetes de euro - montones de billetes fotografías e imágenes de stock">
            <a:extLst>
              <a:ext uri="{FF2B5EF4-FFF2-40B4-BE49-F238E27FC236}">
                <a16:creationId xmlns:a16="http://schemas.microsoft.com/office/drawing/2014/main" id="{A090033F-94F0-10EF-CAFF-DD2F370C3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307" y="2425929"/>
            <a:ext cx="1512018" cy="10030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the flag of argentina waving in the wind">
            <a:extLst>
              <a:ext uri="{FF2B5EF4-FFF2-40B4-BE49-F238E27FC236}">
                <a16:creationId xmlns:a16="http://schemas.microsoft.com/office/drawing/2014/main" id="{7DF97E90-0291-CF42-EB2A-265286C5C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148" y="74725"/>
            <a:ext cx="876915" cy="7015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 descr="Precios volátiles: qué sectores aumentaron más que la inflación promedio y cuáles se abarataron">
            <a:extLst>
              <a:ext uri="{FF2B5EF4-FFF2-40B4-BE49-F238E27FC236}">
                <a16:creationId xmlns:a16="http://schemas.microsoft.com/office/drawing/2014/main" id="{B16318C3-99C5-ADCE-4FCF-217682B1C6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70"/>
          <a:stretch>
            <a:fillRect/>
          </a:stretch>
        </p:blipFill>
        <p:spPr>
          <a:xfrm>
            <a:off x="9673467" y="74725"/>
            <a:ext cx="1284431" cy="700880"/>
          </a:xfrm>
          <a:prstGeom prst="roundRect">
            <a:avLst>
              <a:gd name="adj" fmla="val 16667"/>
            </a:avLst>
          </a:prstGeom>
          <a:ln w="3175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72F75F4-4D87-CB91-01CB-7BE4E1661D3D}"/>
              </a:ext>
            </a:extLst>
          </p:cNvPr>
          <p:cNvSpPr txBox="1">
            <a:spLocks/>
          </p:cNvSpPr>
          <p:nvPr/>
        </p:nvSpPr>
        <p:spPr>
          <a:xfrm>
            <a:off x="5590677" y="3667925"/>
            <a:ext cx="6159500" cy="2244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b="1" noProof="0" dirty="0"/>
              <a:t>Turquía:</a:t>
            </a:r>
            <a:endParaRPr lang="es-MX" sz="1600" noProof="0" dirty="0"/>
          </a:p>
          <a:p>
            <a:pPr lvl="0"/>
            <a:r>
              <a:rPr lang="es-MX" sz="1600" b="1" noProof="0" dirty="0"/>
              <a:t>Situación:</a:t>
            </a:r>
            <a:r>
              <a:rPr lang="es-MX" sz="1600" noProof="0" dirty="0"/>
              <a:t> Ha registrado inflaciones anuales muy              altas (superiores al 60%–80%).</a:t>
            </a:r>
          </a:p>
          <a:p>
            <a:pPr lvl="0"/>
            <a:r>
              <a:rPr lang="es-MX" sz="1600" b="1" noProof="0" dirty="0"/>
              <a:t>Causas:</a:t>
            </a:r>
            <a:r>
              <a:rPr lang="es-MX" sz="1600" noProof="0" dirty="0"/>
              <a:t> Política monetaria poco convencional (mantener o bajar tasas de interés a pesar de que la inflación subía, en lugar de subirlas para frenarla).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B63AFF-BBEE-3515-B3E5-A1EC8CEDB13F}"/>
              </a:ext>
            </a:extLst>
          </p:cNvPr>
          <p:cNvCxnSpPr/>
          <p:nvPr/>
        </p:nvCxnSpPr>
        <p:spPr>
          <a:xfrm>
            <a:off x="5506065" y="0"/>
            <a:ext cx="0" cy="7354529"/>
          </a:xfrm>
          <a:prstGeom prst="line">
            <a:avLst/>
          </a:prstGeom>
          <a:ln w="571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0BAD6C-5A62-17CA-A275-279AF2E893D4}"/>
              </a:ext>
            </a:extLst>
          </p:cNvPr>
          <p:cNvCxnSpPr>
            <a:cxnSpLocks/>
          </p:cNvCxnSpPr>
          <p:nvPr/>
        </p:nvCxnSpPr>
        <p:spPr>
          <a:xfrm flipH="1">
            <a:off x="5667077" y="3589020"/>
            <a:ext cx="5895003" cy="0"/>
          </a:xfrm>
          <a:prstGeom prst="line">
            <a:avLst/>
          </a:prstGeom>
          <a:ln w="571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Supermercados vacíos tras orden de bajar los precios en Venezuela">
            <a:extLst>
              <a:ext uri="{FF2B5EF4-FFF2-40B4-BE49-F238E27FC236}">
                <a16:creationId xmlns:a16="http://schemas.microsoft.com/office/drawing/2014/main" id="{8F123259-E639-55A1-1035-93720AA21D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6300" y="1567585"/>
            <a:ext cx="1770869" cy="10957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Picture 28" descr="Tasas de inflación de los bienes de consumo en Turquía">
            <a:extLst>
              <a:ext uri="{FF2B5EF4-FFF2-40B4-BE49-F238E27FC236}">
                <a16:creationId xmlns:a16="http://schemas.microsoft.com/office/drawing/2014/main" id="{0D679708-B848-4D39-132C-DE2A43B4D7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313" y="5532995"/>
            <a:ext cx="6159488" cy="13250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FE7F463-D74E-AD69-AB09-B498398AF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0357" y="3589020"/>
            <a:ext cx="1284431" cy="128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127E-DEDD-4E67-4400-16E69F11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A168-A486-F946-DEF7-BFAE9C59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652" y="724377"/>
            <a:ext cx="9324374" cy="909159"/>
          </a:xfrm>
        </p:spPr>
        <p:txBody>
          <a:bodyPr>
            <a:normAutofit fontScale="90000"/>
          </a:bodyPr>
          <a:lstStyle/>
          <a:p>
            <a:pPr algn="ctr"/>
            <a:r>
              <a:rPr lang="es-MX" noProof="0" dirty="0"/>
              <a:t>¿Por qué importa la Inflación en Evaluación de Proyectos de TI?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AFCF-C5EF-3B16-88A1-8BBAB844DD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34" y="1802797"/>
            <a:ext cx="9324374" cy="1166807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s-MX" sz="1600" b="1" noProof="0" dirty="0"/>
              <a:t>Pérdida de margen en cotizaciones:</a:t>
            </a:r>
            <a:r>
              <a:rPr lang="es-MX" sz="1600" noProof="0" dirty="0"/>
              <a:t> Si cotizas el desarrollo de un software o la implementación de una red para entregarlo en 12 meses, el costo de los servidores, licencias o sueldos del equipo subirá, pero tu cobro acordado se queda congelado.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62C803-D78A-0F4A-38B6-EE38981982B6}"/>
              </a:ext>
            </a:extLst>
          </p:cNvPr>
          <p:cNvSpPr txBox="1">
            <a:spLocks/>
          </p:cNvSpPr>
          <p:nvPr/>
        </p:nvSpPr>
        <p:spPr>
          <a:xfrm>
            <a:off x="3426562" y="3138865"/>
            <a:ext cx="7483986" cy="11546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s-MX" sz="1600" b="1" noProof="0" dirty="0"/>
              <a:t>Licencias e Infraestructura en Dólares:</a:t>
            </a:r>
            <a:r>
              <a:rPr lang="es-MX" sz="1600" noProof="0" dirty="0"/>
              <a:t> En TI, gran parte del hardware (servidores, Cisco, procesadores) y servicios Cloud (AWS, Azure, Google Cloud) se cotizan en dólares. Si la inflación viene acompañada de devaluación de la moneda local, los costos en la nube se disparan.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3EC187-0E7A-8D1D-7FE4-89692334EEC9}"/>
              </a:ext>
            </a:extLst>
          </p:cNvPr>
          <p:cNvSpPr txBox="1">
            <a:spLocks/>
          </p:cNvSpPr>
          <p:nvPr/>
        </p:nvSpPr>
        <p:spPr>
          <a:xfrm>
            <a:off x="509292" y="4939831"/>
            <a:ext cx="8877415" cy="1154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s-MX" sz="1600" b="1" noProof="0" dirty="0"/>
              <a:t>Tasa de Descuento / Valor Presente Neto (VPN):</a:t>
            </a:r>
            <a:r>
              <a:rPr lang="es-MX" sz="1600" noProof="0" dirty="0"/>
              <a:t> Al evaluar la rentabilidad de un proyecto de TI a 3 o 5 años, debes ajustar el flujo de caja proyectado por la inflación esperada; si no lo haces, estarás calculando ganancias ficticias.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A1E79B-8B95-22D6-5D91-BF4164F67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707" y="1589285"/>
            <a:ext cx="1380319" cy="13803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A55148-AE7D-0D2C-89DE-163619BF8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3000688"/>
            <a:ext cx="1590040" cy="15900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5319EA-123C-DBD5-8F88-AD1480526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707" y="4590728"/>
            <a:ext cx="1610360" cy="16103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6573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6EFDCE-CECA-2BED-F42D-E03498113238}"/>
              </a:ext>
            </a:extLst>
          </p:cNvPr>
          <p:cNvSpPr txBox="1">
            <a:spLocks/>
          </p:cNvSpPr>
          <p:nvPr/>
        </p:nvSpPr>
        <p:spPr>
          <a:xfrm>
            <a:off x="2424846" y="709168"/>
            <a:ext cx="7342307" cy="1133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37160" indent="-13716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noProof="0" dirty="0"/>
              <a:t>Conclusión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4B5655-E476-EAEC-CDFC-CCB312EAC334}"/>
              </a:ext>
            </a:extLst>
          </p:cNvPr>
          <p:cNvSpPr txBox="1">
            <a:spLocks/>
          </p:cNvSpPr>
          <p:nvPr/>
        </p:nvSpPr>
        <p:spPr>
          <a:xfrm>
            <a:off x="650812" y="2385059"/>
            <a:ext cx="10890374" cy="2743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En conclusión, la inflación es un factor crítico que impacta de forma directa cualquier proyecto tecnológico. </a:t>
            </a:r>
          </a:p>
          <a:p>
            <a:r>
              <a:rPr lang="es-MX" dirty="0"/>
              <a:t>Entender</a:t>
            </a:r>
            <a:r>
              <a:rPr lang="es-MX" noProof="0" dirty="0"/>
              <a:t> la inflación nos evita cometer errores graves: desde cotizar software a precio fijo sin contemplar el aumento de costos, hasta ignorar la fluctuación de licencias o infraestructura en la nube que se cobran en dólares. </a:t>
            </a:r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846" y="2862072"/>
            <a:ext cx="7342307" cy="1133856"/>
          </a:xfrm>
        </p:spPr>
        <p:txBody>
          <a:bodyPr/>
          <a:lstStyle/>
          <a:p>
            <a:pPr algn="ctr"/>
            <a:r>
              <a:rPr lang="es-MX" noProof="0" dirty="0"/>
              <a:t>FIN </a:t>
            </a:r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A2E174-8201-44C8-8E86-D532E6482A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815C017-F059-461C-B5CA-F74FA82919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7CFCFE-9E11-486F-94A1-AD5EF62DEC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{DE80ACC9-9C95-415E-86B0-8748B18338D5}9db5ba7a-f6a8-423e-8130-f3099013613b-TF6f351658-02aa-4255-a406-604a46294ca9_win32</Template>
  <TotalTime>101</TotalTime>
  <Words>578</Words>
  <Application>Microsoft Office PowerPoint</Application>
  <PresentationFormat>Widescreen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Neue Haas Grotesk Text Pro</vt:lpstr>
      <vt:lpstr>Helena</vt:lpstr>
      <vt:lpstr>INFLACIÓN</vt:lpstr>
      <vt:lpstr>¿Qué es la Inflación?</vt:lpstr>
      <vt:lpstr>Causas principales</vt:lpstr>
      <vt:lpstr>Ejemplos de Países con Alta Inflación</vt:lpstr>
      <vt:lpstr>¿Por qué importa la Inflación en Evaluación de Proyectos de TI?</vt:lpstr>
      <vt:lpstr>PowerPoint Presentation</vt:lpstr>
      <vt:lpstr>FIN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Tintor</dc:creator>
  <cp:lastModifiedBy>Alex Tintor</cp:lastModifiedBy>
  <cp:revision>1</cp:revision>
  <dcterms:created xsi:type="dcterms:W3CDTF">2026-10-18T22:18:58Z</dcterms:created>
  <dcterms:modified xsi:type="dcterms:W3CDTF">2026-10-19T00:00:20Z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